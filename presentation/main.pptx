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15c377c-c6c2-a2ed-a3f1-7487d19d7f3f}">
          <p14:sldIdLst>
            <p14:sldId id="256"/>
          </p14:sldIdLst>
        </p14:section>
        <p14:section name="Problema e proposta" id="{04154814-4742-efae-6e0e-a3c556dc2cc0}">
          <p14:sldIdLst>
            <p14:sldId id="257"/>
            <p14:sldId id="258"/>
          </p14:sldIdLst>
        </p14:section>
        <p14:section name="Fundamentação" id="{e09aae42-9c83-25f0-b4f6-7c31c51e5bac}">
          <p14:sldIdLst>
            <p14:sldId id="259"/>
            <p14:sldId id="260"/>
          </p14:sldIdLst>
        </p14:section>
        <p14:section name="Avaliação" id="{ee84291e-18fa-23d7-a83c-9599705d03f3}">
          <p14:sldIdLst>
            <p14:sldId id="261"/>
          </p14:sldIdLst>
        </p14:section>
        <p14:section name="Andamento" id="{cd0a90d6-d0f6-9758-cefe-94131cc4ba73}">
          <p14:sldIdLst>
            <p14:sldId id="262"/>
            <p14:sldId id="263"/>
            <p14:sldId id="264"/>
            <p14:sldId id="265"/>
          </p14:sldIdLst>
        </p14:section>
        <p14:section name="Planejamento" id="{962adc38-c190-0c45-5cf2-9c25f08bc904}">
          <p14:sldIdLst>
            <p14:sldId id="266"/>
          </p14:sldIdLst>
        </p14:section>
        <p14:section name="Encerramento" id="{ee20b656-2dab-304f-7f72-97aa61fbb90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2240" y="502920"/>
            <a:ext cx="2011680" cy="20116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3.8B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40680" y="21488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0.5B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86600" y="2880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152M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822960"/>
            <a:ext cx="47548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2743200"/>
            <a:ext cx="4572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PUC Minas · Trabalho Interdisciplinar 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822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Load Balancer para Modelos de IA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27432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Roteamento de requisições por complexidade entre modelos de IA de diferentes portes</a:t>
            </a:r>
            <a:endParaRPr lang="en-US" sz="1800" dirty="0"/>
          </a:p>
        </p:txBody>
      </p:sp>
      <p:sp>
        <p:nvSpPr>
          <p:cNvPr id="4" name="Rodapé integrantes"/>
          <p:cNvSpPr txBox="1"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PUC Minas · Trabalho Interdisciplinar V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Artur Fernandes Braga de Menezes · Artur Rizzi Martinho · Felipe Lacerda Tertuliano · Gabriel Alves da Silva Diógenes · Rafael Mortimer Colares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Um modelo só para tudo</a:t>
            </a:r>
            <a:endParaRPr lang="en-US" sz="3400" dirty="0"/>
          </a:p>
        </p:txBody>
      </p:sp>
      <p:sp>
        <p:nvSpPr>
          <p:cNvPr id="3" name="Bullets problema"/>
          <p:cNvSpPr txBox="1"/>
          <p:nvPr/>
        </p:nvSpPr>
        <p:spPr>
          <a:xfrm>
            <a:off x="54864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Toda requisição, simples ou complexa, vai para o mesmo modelo de grande porte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Uso ineficiente de GPU/CPU em tarefas simples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Maior latência e custo de inferência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Demanda heterogênea, capacidade subutilizada</a:t>
            </a:r>
            <a:endParaRPr lang="en-US" sz="1500" dirty="0"/>
          </a:p>
        </p:txBody>
      </p:sp>
      <p:sp>
        <p:nvSpPr>
          <p:cNvPr id="4" name="Requisição Resumo curto"/>
          <p:cNvSpPr/>
          <p:nvPr/>
        </p:nvSpPr>
        <p:spPr>
          <a:xfrm>
            <a:off x="4480560" y="12801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Resumo curto</a:t>
            </a:r>
            <a:endParaRPr lang="en-US" sz="1400" dirty="0"/>
          </a:p>
        </p:txBody>
      </p:sp>
      <p:sp>
        <p:nvSpPr>
          <p:cNvPr id="5" name="Seta Resumo curto"/>
          <p:cNvSpPr/>
          <p:nvPr/>
        </p:nvSpPr>
        <p:spPr>
          <a:xfrm>
            <a:off x="6126480" y="1531620"/>
            <a:ext cx="731520" cy="1371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Requisição Código complexo"/>
          <p:cNvSpPr/>
          <p:nvPr/>
        </p:nvSpPr>
        <p:spPr>
          <a:xfrm>
            <a:off x="4480560" y="19659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Código complexo</a:t>
            </a:r>
            <a:endParaRPr lang="en-US" sz="1400" dirty="0"/>
          </a:p>
        </p:txBody>
      </p:sp>
      <p:sp>
        <p:nvSpPr>
          <p:cNvPr id="7" name="Seta Código complexo"/>
          <p:cNvSpPr/>
          <p:nvPr/>
        </p:nvSpPr>
        <p:spPr>
          <a:xfrm>
            <a:off x="6126480" y="2217420"/>
            <a:ext cx="731520" cy="685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Requisição Saudação"/>
          <p:cNvSpPr/>
          <p:nvPr/>
        </p:nvSpPr>
        <p:spPr>
          <a:xfrm>
            <a:off x="4480560" y="26517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Saudação</a:t>
            </a:r>
            <a:endParaRPr lang="en-US" sz="1400" dirty="0"/>
          </a:p>
        </p:txBody>
      </p:sp>
      <p:sp>
        <p:nvSpPr>
          <p:cNvPr id="9" name="Seta Saudação"/>
          <p:cNvSpPr/>
          <p:nvPr/>
        </p:nvSpPr>
        <p:spPr>
          <a:xfrm>
            <a:off x="6126480" y="2903220"/>
            <a:ext cx="731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Requisição Análise longa"/>
          <p:cNvSpPr/>
          <p:nvPr/>
        </p:nvSpPr>
        <p:spPr>
          <a:xfrm>
            <a:off x="4480560" y="33375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Análise longa</a:t>
            </a:r>
            <a:endParaRPr lang="en-US" sz="1400" dirty="0"/>
          </a:p>
        </p:txBody>
      </p:sp>
      <p:sp>
        <p:nvSpPr>
          <p:cNvPr id="11" name="Seta Análise longa"/>
          <p:cNvSpPr/>
          <p:nvPr/>
        </p:nvSpPr>
        <p:spPr>
          <a:xfrm flipV="1">
            <a:off x="6126480" y="2903220"/>
            <a:ext cx="731520" cy="685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Requisição Tradução simples"/>
          <p:cNvSpPr/>
          <p:nvPr/>
        </p:nvSpPr>
        <p:spPr>
          <a:xfrm>
            <a:off x="4480560" y="40233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Tradução simples</a:t>
            </a:r>
            <a:endParaRPr lang="en-US" sz="1400" dirty="0"/>
          </a:p>
        </p:txBody>
      </p:sp>
      <p:sp>
        <p:nvSpPr>
          <p:cNvPr id="13" name="Seta Tradução simples"/>
          <p:cNvSpPr/>
          <p:nvPr/>
        </p:nvSpPr>
        <p:spPr>
          <a:xfrm flipV="1">
            <a:off x="6126480" y="2903220"/>
            <a:ext cx="731520" cy="1371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Modelo de grande porte"/>
          <p:cNvSpPr/>
          <p:nvPr/>
        </p:nvSpPr>
        <p:spPr>
          <a:xfrm>
            <a:off x="6858000" y="221742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Modelo de grande porte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Rotear pela complexidade do pedido</a:t>
            </a:r>
            <a:endParaRPr lang="en-US" sz="3400" dirty="0"/>
          </a:p>
        </p:txBody>
      </p:sp>
      <p:sp>
        <p:nvSpPr>
          <p:cNvPr id="3" name="Bullets proposta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Um load balancer que classifica cada prompt e o direciona ao modelo mais adequado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Evita usar um modelo grande quando um modelo leve resolve</a:t>
            </a:r>
            <a:endParaRPr lang="en-US" sz="1500" dirty="0"/>
          </a:p>
        </p:txBody>
      </p:sp>
      <p:sp>
        <p:nvSpPr>
          <p:cNvPr id="4" name="Requisição"/>
          <p:cNvSpPr/>
          <p:nvPr/>
        </p:nvSpPr>
        <p:spPr>
          <a:xfrm>
            <a:off x="548640" y="288036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Requisição</a:t>
            </a:r>
            <a:endParaRPr lang="en-US" sz="1400" dirty="0"/>
          </a:p>
        </p:txBody>
      </p:sp>
      <p:sp>
        <p:nvSpPr>
          <p:cNvPr id="5" name="Seta req-classificador"/>
          <p:cNvSpPr/>
          <p:nvPr/>
        </p:nvSpPr>
        <p:spPr>
          <a:xfrm>
            <a:off x="2194560" y="3200400"/>
            <a:ext cx="64008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Classificador"/>
          <p:cNvSpPr/>
          <p:nvPr/>
        </p:nvSpPr>
        <p:spPr>
          <a:xfrm>
            <a:off x="2834640" y="278892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Classificador de complexidade</a:t>
            </a:r>
            <a:endParaRPr lang="en-US" sz="1500" dirty="0"/>
          </a:p>
        </p:txBody>
      </p:sp>
      <p:sp>
        <p:nvSpPr>
          <p:cNvPr id="7" name="Modelo AILO-152M-v2"/>
          <p:cNvSpPr/>
          <p:nvPr/>
        </p:nvSpPr>
        <p:spPr>
          <a:xfrm>
            <a:off x="5852160" y="2194560"/>
            <a:ext cx="27432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AILO-152M-v2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trivial</a:t>
            </a:r>
            <a:endParaRPr lang="en-US" sz="1400" dirty="0"/>
          </a:p>
        </p:txBody>
      </p:sp>
      <p:sp>
        <p:nvSpPr>
          <p:cNvPr id="8" name="Seta para AILO-152M-v2"/>
          <p:cNvSpPr/>
          <p:nvPr/>
        </p:nvSpPr>
        <p:spPr>
          <a:xfrm flipV="1">
            <a:off x="5029200" y="2478024"/>
            <a:ext cx="822960" cy="7223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Modelo Qwen2.5-Coder-0.5B"/>
          <p:cNvSpPr/>
          <p:nvPr/>
        </p:nvSpPr>
        <p:spPr>
          <a:xfrm>
            <a:off x="5852160" y="2916936"/>
            <a:ext cx="27432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Qwen2.5-Coder-0.5B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intermediário</a:t>
            </a:r>
            <a:endParaRPr lang="en-US" sz="1400" dirty="0"/>
          </a:p>
        </p:txBody>
      </p:sp>
      <p:sp>
        <p:nvSpPr>
          <p:cNvPr id="10" name="Seta para Qwen2.5-Coder-0.5B"/>
          <p:cNvSpPr/>
          <p:nvPr/>
        </p:nvSpPr>
        <p:spPr>
          <a:xfrm>
            <a:off x="5029200" y="3200400"/>
            <a:ext cx="82296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Modelo Phi-3.5-mini"/>
          <p:cNvSpPr/>
          <p:nvPr/>
        </p:nvSpPr>
        <p:spPr>
          <a:xfrm>
            <a:off x="5852160" y="3639312"/>
            <a:ext cx="27432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Phi-3.5-mini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complexo</a:t>
            </a:r>
            <a:endParaRPr lang="en-US" sz="1400" dirty="0"/>
          </a:p>
        </p:txBody>
      </p:sp>
      <p:sp>
        <p:nvSpPr>
          <p:cNvPr id="12" name="Seta para Phi-3.5-mini"/>
          <p:cNvSpPr/>
          <p:nvPr/>
        </p:nvSpPr>
        <p:spPr>
          <a:xfrm>
            <a:off x="5029200" y="3200400"/>
            <a:ext cx="822960" cy="7223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Rodapé stack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Serviço via Ollama · orquestração em Python (FastAPI + httpx)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o trabalho pretende mostrar</a:t>
            </a:r>
            <a:endParaRPr lang="en-US" sz="3400" dirty="0"/>
          </a:p>
        </p:txBody>
      </p:sp>
      <p:sp>
        <p:nvSpPr>
          <p:cNvPr id="3" name="Card objetivo geral"/>
          <p:cNvSpPr/>
          <p:nvPr/>
        </p:nvSpPr>
        <p:spPr>
          <a:xfrm>
            <a:off x="548640" y="1325880"/>
            <a:ext cx="347472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4" name="Rótulo objetivo geral"/>
          <p:cNvSpPr txBox="1"/>
          <p:nvPr/>
        </p:nvSpPr>
        <p:spPr>
          <a:xfrm>
            <a:off x="77724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OBJETIVO GERAL</a:t>
            </a:r>
            <a:endParaRPr lang="en-US" sz="1200" dirty="0"/>
          </a:p>
        </p:txBody>
      </p:sp>
      <p:sp>
        <p:nvSpPr>
          <p:cNvPr id="5" name="Texto objetivo geral"/>
          <p:cNvSpPr txBox="1"/>
          <p:nvPr/>
        </p:nvSpPr>
        <p:spPr>
          <a:xfrm>
            <a:off x="777240" y="19202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Desenvolver um load balancer que direcione requisições entre modelos de IA de portes distintos, conforme sua complexidade</a:t>
            </a:r>
            <a:endParaRPr lang="en-US" sz="1800" dirty="0"/>
          </a:p>
        </p:txBody>
      </p:sp>
      <p:sp>
        <p:nvSpPr>
          <p:cNvPr id="6" name="Card objetivo 1"/>
          <p:cNvSpPr/>
          <p:nvPr/>
        </p:nvSpPr>
        <p:spPr>
          <a:xfrm>
            <a:off x="4297680" y="1325880"/>
            <a:ext cx="4297680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sp>
        <p:nvSpPr>
          <p:cNvPr id="7" name="Número objetivo 1"/>
          <p:cNvSpPr/>
          <p:nvPr/>
        </p:nvSpPr>
        <p:spPr>
          <a:xfrm>
            <a:off x="4480560" y="1481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 objetivo 1"/>
          <p:cNvSpPr txBox="1"/>
          <p:nvPr/>
        </p:nvSpPr>
        <p:spPr>
          <a:xfrm>
            <a:off x="5074920" y="13258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Implementar um classificador de prompts</a:t>
            </a:r>
            <a:endParaRPr lang="en-US" sz="1500" dirty="0"/>
          </a:p>
        </p:txBody>
      </p:sp>
      <p:sp>
        <p:nvSpPr>
          <p:cNvPr id="9" name="Card objetivo 2"/>
          <p:cNvSpPr/>
          <p:nvPr/>
        </p:nvSpPr>
        <p:spPr>
          <a:xfrm>
            <a:off x="4297680" y="2148840"/>
            <a:ext cx="4297680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sp>
        <p:nvSpPr>
          <p:cNvPr id="10" name="Número objetivo 2"/>
          <p:cNvSpPr/>
          <p:nvPr/>
        </p:nvSpPr>
        <p:spPr>
          <a:xfrm>
            <a:off x="4480560" y="230428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 objetivo 2"/>
          <p:cNvSpPr txBox="1"/>
          <p:nvPr/>
        </p:nvSpPr>
        <p:spPr>
          <a:xfrm>
            <a:off x="5074920" y="21488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Reduzir latência média e custo de inferência</a:t>
            </a:r>
            <a:endParaRPr lang="en-US" sz="1500" dirty="0"/>
          </a:p>
        </p:txBody>
      </p:sp>
      <p:sp>
        <p:nvSpPr>
          <p:cNvPr id="12" name="Card objetivo 3"/>
          <p:cNvSpPr/>
          <p:nvPr/>
        </p:nvSpPr>
        <p:spPr>
          <a:xfrm>
            <a:off x="4297680" y="2971800"/>
            <a:ext cx="4297680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sp>
        <p:nvSpPr>
          <p:cNvPr id="13" name="Número objetivo 3"/>
          <p:cNvSpPr/>
          <p:nvPr/>
        </p:nvSpPr>
        <p:spPr>
          <a:xfrm>
            <a:off x="4480560" y="31272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o objetivo 3"/>
          <p:cNvSpPr txBox="1"/>
          <p:nvPr/>
        </p:nvSpPr>
        <p:spPr>
          <a:xfrm>
            <a:off x="5074920" y="2971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Comparar baseline (um único modelo) x proposta</a:t>
            </a:r>
            <a:endParaRPr lang="en-US" sz="1500" dirty="0"/>
          </a:p>
        </p:txBody>
      </p:sp>
      <p:sp>
        <p:nvSpPr>
          <p:cNvPr id="15" name="Card objetivo 4"/>
          <p:cNvSpPr/>
          <p:nvPr/>
        </p:nvSpPr>
        <p:spPr>
          <a:xfrm>
            <a:off x="4297680" y="3794760"/>
            <a:ext cx="4297680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sp>
        <p:nvSpPr>
          <p:cNvPr id="16" name="Número objetivo 4"/>
          <p:cNvSpPr/>
          <p:nvPr/>
        </p:nvSpPr>
        <p:spPr>
          <a:xfrm>
            <a:off x="4480560" y="39502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o objetivo 4"/>
          <p:cNvSpPr txBox="1"/>
          <p:nvPr/>
        </p:nvSpPr>
        <p:spPr>
          <a:xfrm>
            <a:off x="5074920" y="37947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Medir uso de RAM e GPU por instância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já existe — e o que falta</a:t>
            </a:r>
            <a:endParaRPr lang="en-US" sz="3400" dirty="0"/>
          </a:p>
        </p:txBody>
      </p:sp>
      <p:sp>
        <p:nvSpPr>
          <p:cNvPr id="3" name="Linha relacionado 1"/>
          <p:cNvSpPr/>
          <p:nvPr/>
        </p:nvSpPr>
        <p:spPr>
          <a:xfrm>
            <a:off x="548640" y="1188720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4" name="Autor 1"/>
          <p:cNvSpPr txBox="1"/>
          <p:nvPr/>
        </p:nvSpPr>
        <p:spPr>
          <a:xfrm>
            <a:off x="73152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Kossmann et al. (2024)</a:t>
            </a:r>
            <a:endParaRPr lang="en-US" sz="1400" dirty="0"/>
          </a:p>
        </p:txBody>
      </p:sp>
      <p:sp>
        <p:nvSpPr>
          <p:cNvPr id="5" name="Descrição 1"/>
          <p:cNvSpPr txBox="1"/>
          <p:nvPr/>
        </p:nvSpPr>
        <p:spPr>
          <a:xfrm>
            <a:off x="2880360" y="118872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SAL: balanceia pela carga de fila e memória do servidor</a:t>
            </a:r>
            <a:endParaRPr lang="en-US" sz="1400" dirty="0"/>
          </a:p>
        </p:txBody>
      </p:sp>
      <p:sp>
        <p:nvSpPr>
          <p:cNvPr id="6" name="Linha relacionado 2"/>
          <p:cNvSpPr/>
          <p:nvPr/>
        </p:nvSpPr>
        <p:spPr>
          <a:xfrm>
            <a:off x="548640" y="1719072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7" name="Autor 2"/>
          <p:cNvSpPr txBox="1"/>
          <p:nvPr/>
        </p:nvSpPr>
        <p:spPr>
          <a:xfrm>
            <a:off x="731520" y="1719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Jain et al. (2025)</a:t>
            </a:r>
            <a:endParaRPr lang="en-US" sz="1400" dirty="0"/>
          </a:p>
        </p:txBody>
      </p:sp>
      <p:sp>
        <p:nvSpPr>
          <p:cNvPr id="8" name="Descrição 2"/>
          <p:cNvSpPr txBox="1"/>
          <p:nvPr/>
        </p:nvSpPr>
        <p:spPr>
          <a:xfrm>
            <a:off x="2880360" y="171907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Prevê o tamanho da resposta entre réplicas do mesmo modelo</a:t>
            </a:r>
            <a:endParaRPr lang="en-US" sz="1400" dirty="0"/>
          </a:p>
        </p:txBody>
      </p:sp>
      <p:sp>
        <p:nvSpPr>
          <p:cNvPr id="9" name="Linha relacionado 3"/>
          <p:cNvSpPr/>
          <p:nvPr/>
        </p:nvSpPr>
        <p:spPr>
          <a:xfrm>
            <a:off x="548640" y="2249424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0" name="Autor 3"/>
          <p:cNvSpPr txBox="1"/>
          <p:nvPr/>
        </p:nvSpPr>
        <p:spPr>
          <a:xfrm>
            <a:off x="731520" y="2249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Sun et al. (2024)</a:t>
            </a:r>
            <a:endParaRPr lang="en-US" sz="1400" dirty="0"/>
          </a:p>
        </p:txBody>
      </p:sp>
      <p:sp>
        <p:nvSpPr>
          <p:cNvPr id="11" name="Descrição 3"/>
          <p:cNvSpPr txBox="1"/>
          <p:nvPr/>
        </p:nvSpPr>
        <p:spPr>
          <a:xfrm>
            <a:off x="2880360" y="22494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Llumnix: reagenda requisições em execução entre instâncias</a:t>
            </a:r>
            <a:endParaRPr lang="en-US" sz="1400" dirty="0"/>
          </a:p>
        </p:txBody>
      </p:sp>
      <p:sp>
        <p:nvSpPr>
          <p:cNvPr id="12" name="Linha relacionado 4"/>
          <p:cNvSpPr/>
          <p:nvPr/>
        </p:nvSpPr>
        <p:spPr>
          <a:xfrm>
            <a:off x="548640" y="2779776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3" name="Autor 4"/>
          <p:cNvSpPr txBox="1"/>
          <p:nvPr/>
        </p:nvSpPr>
        <p:spPr>
          <a:xfrm>
            <a:off x="731520" y="27797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Xia et al. (2025)</a:t>
            </a:r>
            <a:endParaRPr lang="en-US" sz="1400" dirty="0"/>
          </a:p>
        </p:txBody>
      </p:sp>
      <p:sp>
        <p:nvSpPr>
          <p:cNvPr id="14" name="Descrição 4"/>
          <p:cNvSpPr txBox="1"/>
          <p:nvPr/>
        </p:nvSpPr>
        <p:spPr>
          <a:xfrm>
            <a:off x="2880360" y="277977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SkyWalker: balanceamento entre regiões geográficas</a:t>
            </a:r>
            <a:endParaRPr lang="en-US" sz="1400" dirty="0"/>
          </a:p>
        </p:txBody>
      </p:sp>
      <p:sp>
        <p:nvSpPr>
          <p:cNvPr id="15" name="Linha relacionado 5"/>
          <p:cNvSpPr/>
          <p:nvPr/>
        </p:nvSpPr>
        <p:spPr>
          <a:xfrm>
            <a:off x="548640" y="3310128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6" name="Autor 5"/>
          <p:cNvSpPr txBox="1"/>
          <p:nvPr/>
        </p:nvSpPr>
        <p:spPr>
          <a:xfrm>
            <a:off x="73152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Yuan et al. (2026)</a:t>
            </a:r>
            <a:endParaRPr lang="en-US" sz="1400" dirty="0"/>
          </a:p>
        </p:txBody>
      </p:sp>
      <p:sp>
        <p:nvSpPr>
          <p:cNvPr id="17" name="Descrição 5"/>
          <p:cNvSpPr txBox="1"/>
          <p:nvPr/>
        </p:nvSpPr>
        <p:spPr>
          <a:xfrm>
            <a:off x="2880360" y="331012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DualMap: concilia afinidade de cache com balanceamento de carga</a:t>
            </a:r>
            <a:endParaRPr lang="en-US" sz="1400" dirty="0"/>
          </a:p>
        </p:txBody>
      </p:sp>
      <p:sp>
        <p:nvSpPr>
          <p:cNvPr id="18" name="Destaque lacuna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Lacuna: nenhum classifica a complexidade do prompt para escolher entre modelos de portes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Baseline x proposta, em medição</a:t>
            </a:r>
            <a:endParaRPr lang="en-US" sz="3400" dirty="0"/>
          </a:p>
        </p:txBody>
      </p:sp>
      <p:sp>
        <p:nvSpPr>
          <p:cNvPr id="3" name="Card baseline"/>
          <p:cNvSpPr/>
          <p:nvPr/>
        </p:nvSpPr>
        <p:spPr>
          <a:xfrm>
            <a:off x="548640" y="1280160"/>
            <a:ext cx="38404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Rótulo baseline"/>
          <p:cNvSpPr txBox="1"/>
          <p:nvPr/>
        </p:nvSpPr>
        <p:spPr>
          <a:xfrm>
            <a:off x="7772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BASELINE</a:t>
            </a:r>
            <a:endParaRPr lang="en-US" sz="1200" dirty="0"/>
          </a:p>
        </p:txBody>
      </p:sp>
      <p:sp>
        <p:nvSpPr>
          <p:cNvPr id="5" name="Texto baseline"/>
          <p:cNvSpPr txBox="1"/>
          <p:nvPr/>
        </p:nvSpPr>
        <p:spPr>
          <a:xfrm>
            <a:off x="777240" y="1828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Todas as requisições vão para o modelo de maior porte</a:t>
            </a:r>
            <a:endParaRPr lang="en-US" sz="1800" dirty="0"/>
          </a:p>
        </p:txBody>
      </p:sp>
      <p:sp>
        <p:nvSpPr>
          <p:cNvPr id="6" name="Card proposta"/>
          <p:cNvSpPr/>
          <p:nvPr/>
        </p:nvSpPr>
        <p:spPr>
          <a:xfrm>
            <a:off x="4754880" y="1280160"/>
            <a:ext cx="384048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/>
        </p:spPr>
      </p:sp>
      <p:sp>
        <p:nvSpPr>
          <p:cNvPr id="7" name="Rótulo proposta"/>
          <p:cNvSpPr txBox="1"/>
          <p:nvPr/>
        </p:nvSpPr>
        <p:spPr>
          <a:xfrm>
            <a:off x="498348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PROPOSTA</a:t>
            </a:r>
            <a:endParaRPr lang="en-US" sz="1200" dirty="0"/>
          </a:p>
        </p:txBody>
      </p:sp>
      <p:sp>
        <p:nvSpPr>
          <p:cNvPr id="8" name="Texto proposta"/>
          <p:cNvSpPr txBox="1"/>
          <p:nvPr/>
        </p:nvSpPr>
        <p:spPr>
          <a:xfrm>
            <a:off x="4983480" y="1828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 LoadBalancer classifica o prompt e encaminha ao modelo mais adequado</a:t>
            </a:r>
            <a:endParaRPr lang="en-US" sz="1800" dirty="0"/>
          </a:p>
        </p:txBody>
      </p:sp>
      <p:sp>
        <p:nvSpPr>
          <p:cNvPr id="9" name="Rótulo métricas"/>
          <p:cNvSpPr txBox="1"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MÉTRICAS MEDIDAS</a:t>
            </a:r>
            <a:endParaRPr lang="en-US" sz="1200" dirty="0"/>
          </a:p>
        </p:txBody>
      </p:sp>
      <p:sp>
        <p:nvSpPr>
          <p:cNvPr id="10" name="Métrica 1"/>
          <p:cNvSpPr/>
          <p:nvPr/>
        </p:nvSpPr>
        <p:spPr>
          <a:xfrm>
            <a:off x="548640" y="361188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Latência média, P95 e P99</a:t>
            </a:r>
            <a:endParaRPr lang="en-US" sz="1400" dirty="0"/>
          </a:p>
        </p:txBody>
      </p:sp>
      <p:sp>
        <p:nvSpPr>
          <p:cNvPr id="11" name="Métrica 2"/>
          <p:cNvSpPr/>
          <p:nvPr/>
        </p:nvSpPr>
        <p:spPr>
          <a:xfrm>
            <a:off x="3291840" y="361188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Uso de RAM e GPU por máquina</a:t>
            </a:r>
            <a:endParaRPr lang="en-US" sz="1400" dirty="0"/>
          </a:p>
        </p:txBody>
      </p:sp>
      <p:sp>
        <p:nvSpPr>
          <p:cNvPr id="12" name="Métrica 3"/>
          <p:cNvSpPr/>
          <p:nvPr/>
        </p:nvSpPr>
        <p:spPr>
          <a:xfrm>
            <a:off x="6035040" y="361188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Identificação de outliers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Dificuldades enfrentadas</a:t>
            </a:r>
            <a:endParaRPr lang="en-US" sz="3400" dirty="0"/>
          </a:p>
        </p:txBody>
      </p:sp>
      <p:sp>
        <p:nvSpPr>
          <p:cNvPr id="3" name="Card dificuldade 1"/>
          <p:cNvSpPr/>
          <p:nvPr/>
        </p:nvSpPr>
        <p:spPr>
          <a:xfrm>
            <a:off x="54864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Número dificuldade 1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ítulo dificuldade 1"/>
          <p:cNvSpPr txBox="1"/>
          <p:nvPr/>
        </p:nvSpPr>
        <p:spPr>
          <a:xfrm>
            <a:off x="73152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Registro manual dos modelos</a:t>
            </a:r>
            <a:endParaRPr lang="en-US" sz="1600" dirty="0"/>
          </a:p>
        </p:txBody>
      </p:sp>
      <p:sp>
        <p:nvSpPr>
          <p:cNvPr id="6" name="Texto dificuldade 1"/>
          <p:cNvSpPr txBox="1"/>
          <p:nvPr/>
        </p:nvSpPr>
        <p:spPr>
          <a:xfrm>
            <a:off x="73152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Cada modelo é adicionado à mão e associado a uma classe no classificador. Adicionar um novo exige editar o código e reiniciar.</a:t>
            </a:r>
            <a:endParaRPr lang="en-US" sz="1400" dirty="0"/>
          </a:p>
        </p:txBody>
      </p:sp>
      <p:sp>
        <p:nvSpPr>
          <p:cNvPr id="7" name="Card dificuldade 2"/>
          <p:cNvSpPr/>
          <p:nvPr/>
        </p:nvSpPr>
        <p:spPr>
          <a:xfrm>
            <a:off x="329184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8" name="Número dificuldade 2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ítulo dificuldade 2"/>
          <p:cNvSpPr txBox="1"/>
          <p:nvPr/>
        </p:nvSpPr>
        <p:spPr>
          <a:xfrm>
            <a:off x="347472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Conexão com máquinas externas</a:t>
            </a:r>
            <a:endParaRPr lang="en-US" sz="1600" dirty="0"/>
          </a:p>
        </p:txBody>
      </p:sp>
      <p:sp>
        <p:nvSpPr>
          <p:cNvPr id="10" name="Texto dificuldade 2"/>
          <p:cNvSpPr txBox="1"/>
          <p:nvPr/>
        </p:nvSpPr>
        <p:spPr>
          <a:xfrm>
            <a:off x="347472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Expor o Ollama fora da rede local: endereços e portas, autenticação e variação de latência de rede.</a:t>
            </a:r>
            <a:endParaRPr lang="en-US" sz="1400" dirty="0"/>
          </a:p>
        </p:txBody>
      </p:sp>
      <p:sp>
        <p:nvSpPr>
          <p:cNvPr id="11" name="Card dificuldade 3"/>
          <p:cNvSpPr/>
          <p:nvPr/>
        </p:nvSpPr>
        <p:spPr>
          <a:xfrm>
            <a:off x="603504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2" name="Número dificuldade 3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ítulo dificuldade 3"/>
          <p:cNvSpPr txBox="1"/>
          <p:nvPr/>
        </p:nvSpPr>
        <p:spPr>
          <a:xfrm>
            <a:off x="621792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Medição de latência sem ruído</a:t>
            </a:r>
            <a:endParaRPr lang="en-US" sz="1600" dirty="0"/>
          </a:p>
        </p:txBody>
      </p:sp>
      <p:sp>
        <p:nvSpPr>
          <p:cNvPr id="14" name="Texto dificuldade 3"/>
          <p:cNvSpPr txBox="1"/>
          <p:nvPr/>
        </p:nvSpPr>
        <p:spPr>
          <a:xfrm>
            <a:off x="621792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Garantir que a latência reflita o roteamento, e não carga da máquina, ordem dos prompts ou cache de KV.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já foi feito para contornar</a:t>
            </a:r>
            <a:endParaRPr lang="en-US" sz="3400" dirty="0"/>
          </a:p>
        </p:txBody>
      </p:sp>
      <p:sp>
        <p:nvSpPr>
          <p:cNvPr id="3" name="Card solução 1"/>
          <p:cNvSpPr/>
          <p:nvPr/>
        </p:nvSpPr>
        <p:spPr>
          <a:xfrm>
            <a:off x="548640" y="123444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4" name="Título solução 1"/>
          <p:cNvSpPr txBox="1"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Classificador determinístico por regras</a:t>
            </a:r>
            <a:endParaRPr lang="en-US" sz="1500" dirty="0"/>
          </a:p>
        </p:txBody>
      </p:sp>
      <p:sp>
        <p:nvSpPr>
          <p:cNvPr id="5" name="Texto solução 1"/>
          <p:cNvSpPr txBox="1"/>
          <p:nvPr/>
        </p:nvSpPr>
        <p:spPr>
          <a:xfrm>
            <a:off x="73152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Decisão estável entre rodadas, explicável no log, sem variação introduzida por aprendizado.</a:t>
            </a:r>
            <a:endParaRPr lang="en-US" sz="1400" dirty="0"/>
          </a:p>
        </p:txBody>
      </p:sp>
      <p:sp>
        <p:nvSpPr>
          <p:cNvPr id="6" name="Card solução 2"/>
          <p:cNvSpPr/>
          <p:nvPr/>
        </p:nvSpPr>
        <p:spPr>
          <a:xfrm>
            <a:off x="4663440" y="123444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7" name="Título solução 2"/>
          <p:cNvSpPr txBox="1"/>
          <p:nvPr/>
        </p:nvSpPr>
        <p:spPr>
          <a:xfrm>
            <a:off x="48463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Fallback automático para o Phi-3.5-mini</a:t>
            </a:r>
            <a:endParaRPr lang="en-US" sz="1500" dirty="0"/>
          </a:p>
        </p:txBody>
      </p:sp>
      <p:sp>
        <p:nvSpPr>
          <p:cNvPr id="8" name="Texto solução 2"/>
          <p:cNvSpPr txBox="1"/>
          <p:nvPr/>
        </p:nvSpPr>
        <p:spPr>
          <a:xfrm>
            <a:off x="484632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 o modelo escolhido não responde, o prompt vai ao modelo de reserva e o redirecionamento é registrado.</a:t>
            </a:r>
            <a:endParaRPr lang="en-US" sz="1400" dirty="0"/>
          </a:p>
        </p:txBody>
      </p:sp>
      <p:sp>
        <p:nvSpPr>
          <p:cNvPr id="9" name="Card solução 3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0" name="Título solução 3"/>
          <p:cNvSpPr txBox="1"/>
          <p:nvPr/>
        </p:nvSpPr>
        <p:spPr>
          <a:xfrm>
            <a:off x="73152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Experimento contrabalançado</a:t>
            </a:r>
            <a:endParaRPr lang="en-US" sz="1500" dirty="0"/>
          </a:p>
        </p:txBody>
      </p:sp>
      <p:sp>
        <p:nvSpPr>
          <p:cNvPr id="11" name="Texto solução 3"/>
          <p:cNvSpPr txBox="1"/>
          <p:nvPr/>
        </p:nvSpPr>
        <p:spPr>
          <a:xfrm>
            <a:off x="7315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Metade dos prompts vai primeiro ao baseline, metade à proposta; nenhum prompt roda duas vezes seguidas; aquecimento antes da medição.</a:t>
            </a:r>
            <a:endParaRPr lang="en-US" sz="1400" dirty="0"/>
          </a:p>
        </p:txBody>
      </p:sp>
      <p:sp>
        <p:nvSpPr>
          <p:cNvPr id="12" name="Card solução 4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3" name="Título solução 4"/>
          <p:cNvSpPr txBox="1"/>
          <p:nvPr/>
        </p:nvSpPr>
        <p:spPr>
          <a:xfrm>
            <a:off x="484632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Medição de ponta a ponta</a:t>
            </a:r>
            <a:endParaRPr lang="en-US" sz="1500" dirty="0"/>
          </a:p>
        </p:txBody>
      </p:sp>
      <p:sp>
        <p:nvSpPr>
          <p:cNvPr id="14" name="Texto solução 4"/>
          <p:cNvSpPr txBox="1"/>
          <p:nvPr/>
        </p:nvSpPr>
        <p:spPr>
          <a:xfrm>
            <a:off x="48463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Latência medida no cliente com time.perf_counter, independente do servidor.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fica para as próximas semanas</a:t>
            </a:r>
            <a:endParaRPr lang="en-US" sz="3400" dirty="0"/>
          </a:p>
        </p:txBody>
      </p:sp>
      <p:sp>
        <p:nvSpPr>
          <p:cNvPr id="3" name="Linha próximo 1"/>
          <p:cNvSpPr/>
          <p:nvPr/>
        </p:nvSpPr>
        <p:spPr>
          <a:xfrm>
            <a:off x="548640" y="123444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Etiqueta próximo 1"/>
          <p:cNvSpPr/>
          <p:nvPr/>
        </p:nvSpPr>
        <p:spPr>
          <a:xfrm>
            <a:off x="68580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Semana 4</a:t>
            </a:r>
            <a:endParaRPr lang="en-US" sz="1400" dirty="0"/>
          </a:p>
        </p:txBody>
      </p:sp>
      <p:sp>
        <p:nvSpPr>
          <p:cNvPr id="5" name="Texto próximo 1"/>
          <p:cNvSpPr txBox="1"/>
          <p:nvPr/>
        </p:nvSpPr>
        <p:spPr>
          <a:xfrm>
            <a:off x="2377440" y="123444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Refinamento do classificador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Novas categorias, acurácia sobre o conjunto rotulado, monitoramento</a:t>
            </a:r>
            <a:endParaRPr lang="en-US" sz="1400" dirty="0"/>
          </a:p>
        </p:txBody>
      </p:sp>
      <p:sp>
        <p:nvSpPr>
          <p:cNvPr id="6" name="Linha próximo 2"/>
          <p:cNvSpPr/>
          <p:nvPr/>
        </p:nvSpPr>
        <p:spPr>
          <a:xfrm>
            <a:off x="548640" y="2075688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Etiqueta próximo 2"/>
          <p:cNvSpPr/>
          <p:nvPr/>
        </p:nvSpPr>
        <p:spPr>
          <a:xfrm>
            <a:off x="685800" y="2212848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Semana 5</a:t>
            </a:r>
            <a:endParaRPr lang="en-US" sz="1400" dirty="0"/>
          </a:p>
        </p:txBody>
      </p:sp>
      <p:sp>
        <p:nvSpPr>
          <p:cNvPr id="8" name="Texto próximo 2"/>
          <p:cNvSpPr txBox="1"/>
          <p:nvPr/>
        </p:nvSpPr>
        <p:spPr>
          <a:xfrm>
            <a:off x="2377440" y="2075688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Análise estatística completa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Mais testes, outliers e comparação formal entre baseline e proposta</a:t>
            </a:r>
            <a:endParaRPr lang="en-US" sz="1400" dirty="0"/>
          </a:p>
        </p:txBody>
      </p:sp>
      <p:sp>
        <p:nvSpPr>
          <p:cNvPr id="9" name="Linha próximo 3"/>
          <p:cNvSpPr/>
          <p:nvPr/>
        </p:nvSpPr>
        <p:spPr>
          <a:xfrm>
            <a:off x="548640" y="2916936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Etiqueta próximo 3"/>
          <p:cNvSpPr/>
          <p:nvPr/>
        </p:nvSpPr>
        <p:spPr>
          <a:xfrm>
            <a:off x="685800" y="3054096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Semanas 6–8</a:t>
            </a:r>
            <a:endParaRPr lang="en-US" sz="1400" dirty="0"/>
          </a:p>
        </p:txBody>
      </p:sp>
      <p:sp>
        <p:nvSpPr>
          <p:cNvPr id="11" name="Texto próximo 3"/>
          <p:cNvSpPr txBox="1"/>
          <p:nvPr/>
        </p:nvSpPr>
        <p:spPr>
          <a:xfrm>
            <a:off x="2377440" y="2916936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Otimização e escrita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Testes de roteamento, resultados do artigo e trabalhos relacionados</a:t>
            </a:r>
            <a:endParaRPr lang="en-US" sz="1400" dirty="0"/>
          </a:p>
        </p:txBody>
      </p:sp>
      <p:sp>
        <p:nvSpPr>
          <p:cNvPr id="12" name="Linha próximo 4"/>
          <p:cNvSpPr/>
          <p:nvPr/>
        </p:nvSpPr>
        <p:spPr>
          <a:xfrm>
            <a:off x="548640" y="3758184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Etiqueta próximo 4"/>
          <p:cNvSpPr/>
          <p:nvPr/>
        </p:nvSpPr>
        <p:spPr>
          <a:xfrm>
            <a:off x="685800" y="3895344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Sprint 3</a:t>
            </a:r>
            <a:endParaRPr lang="en-US" sz="1400" dirty="0"/>
          </a:p>
        </p:txBody>
      </p:sp>
      <p:sp>
        <p:nvSpPr>
          <p:cNvPr id="14" name="Texto próximo 4"/>
          <p:cNvSpPr txBox="1"/>
          <p:nvPr/>
        </p:nvSpPr>
        <p:spPr>
          <a:xfrm>
            <a:off x="2377440" y="3758184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Pitch e submissão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Gravação do pitch comercial, revisão final do artigo e documentação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Estado atual — Sprint 2</a:t>
            </a:r>
            <a:endParaRPr lang="en-US" sz="3400" dirty="0"/>
          </a:p>
        </p:txBody>
      </p:sp>
      <p:sp>
        <p:nvSpPr>
          <p:cNvPr id="3" name="Card concluído"/>
          <p:cNvSpPr/>
          <p:nvPr/>
        </p:nvSpPr>
        <p:spPr>
          <a:xfrm>
            <a:off x="548640" y="1325880"/>
            <a:ext cx="493776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4" name="Rótulo concluído"/>
          <p:cNvSpPr txBox="1"/>
          <p:nvPr/>
        </p:nvSpPr>
        <p:spPr>
          <a:xfrm>
            <a:off x="77724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CONCLUÍDO</a:t>
            </a:r>
            <a:endParaRPr lang="en-US" sz="1200" dirty="0"/>
          </a:p>
        </p:txBody>
      </p:sp>
      <p:sp>
        <p:nvSpPr>
          <p:cNvPr id="5" name="Itens concluídos"/>
          <p:cNvSpPr txBox="1"/>
          <p:nvPr/>
        </p:nvSpPr>
        <p:spPr>
          <a:xfrm>
            <a:off x="77724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Load Balancer completo (FastAPI + httpx + fallback)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Classificador por regras (5 regras + 2 casos ambíguos)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Script de experimentos (baseline vs proposta, contrabalançado)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40 prompts rotulados (14 simples, 13 código, 13 complexos)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Testes automatizados (unitários + integração)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✅  Documentação completa (README + .env.example + API)</a:t>
            </a:r>
            <a:endParaRPr lang="en-US" sz="1400" dirty="0"/>
          </a:p>
        </p:txBody>
      </p:sp>
      <p:sp>
        <p:nvSpPr>
          <p:cNvPr id="6" name="Card atenção"/>
          <p:cNvSpPr/>
          <p:nvPr/>
        </p:nvSpPr>
        <p:spPr>
          <a:xfrm>
            <a:off x="5669280" y="132588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accent4"/>
          </a:solidFill>
          <a:ln/>
        </p:spPr>
      </p:sp>
      <p:sp>
        <p:nvSpPr>
          <p:cNvPr id="7" name="Rótulo atenção"/>
          <p:cNvSpPr txBox="1"/>
          <p:nvPr/>
        </p:nvSpPr>
        <p:spPr>
          <a:xfrm>
            <a:off x="58521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EM ANDAMENTO</a:t>
            </a:r>
            <a:endParaRPr lang="en-US" sz="1200" dirty="0"/>
          </a:p>
        </p:txBody>
      </p:sp>
      <p:sp>
        <p:nvSpPr>
          <p:cNvPr id="8" name="Itens atenção"/>
          <p:cNvSpPr txBox="1"/>
          <p:nvPr/>
        </p:nvSpPr>
        <p:spPr>
          <a:xfrm>
            <a:off x="5852160" y="18745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⚠️  Resultados preliminares disponíveis — medição completa na semana 5</a:t>
            </a:r>
            <a:endParaRPr lang="en-US" sz="1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⚠️  Análise estatística completa (P95, P99, outliers) — prevista para a semana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Cronograma do semestre</a:t>
            </a:r>
            <a:endParaRPr lang="en-US" sz="3400" dirty="0"/>
          </a:p>
        </p:txBody>
      </p:sp>
      <p:sp>
        <p:nvSpPr>
          <p:cNvPr id="3" name="Linha do tempo"/>
          <p:cNvSpPr/>
          <p:nvPr/>
        </p:nvSpPr>
        <p:spPr>
          <a:xfrm>
            <a:off x="777240" y="1554480"/>
            <a:ext cx="0" cy="2651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" name="Marco 1"/>
          <p:cNvSpPr/>
          <p:nvPr/>
        </p:nvSpPr>
        <p:spPr>
          <a:xfrm>
            <a:off x="640080" y="141732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Bloco cronograma 1"/>
          <p:cNvSpPr txBox="1"/>
          <p:nvPr/>
        </p:nvSpPr>
        <p:spPr>
          <a:xfrm>
            <a:off x="1188720" y="12344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SEMANAS 1–2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Ambiente e classificador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— Setup do Ollama e 1ª versão do LoadBalancer</a:t>
            </a:r>
            <a:endParaRPr lang="en-US" sz="1400" dirty="0"/>
          </a:p>
        </p:txBody>
      </p:sp>
      <p:sp>
        <p:nvSpPr>
          <p:cNvPr id="6" name="Marco 2"/>
          <p:cNvSpPr/>
          <p:nvPr/>
        </p:nvSpPr>
        <p:spPr>
          <a:xfrm>
            <a:off x="640080" y="2075688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Bloco cronograma 2"/>
          <p:cNvSpPr txBox="1"/>
          <p:nvPr/>
        </p:nvSpPr>
        <p:spPr>
          <a:xfrm>
            <a:off x="1188720" y="18928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SPRINT 2 · SEM. 3–4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Implementação e métricas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— Refinamento do classificador e monitoramento</a:t>
            </a:r>
            <a:endParaRPr lang="en-US" sz="1400" dirty="0"/>
          </a:p>
        </p:txBody>
      </p:sp>
      <p:sp>
        <p:nvSpPr>
          <p:cNvPr id="8" name="Marco 3"/>
          <p:cNvSpPr/>
          <p:nvPr/>
        </p:nvSpPr>
        <p:spPr>
          <a:xfrm>
            <a:off x="640080" y="2734056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Bloco cronograma 3"/>
          <p:cNvSpPr txBox="1"/>
          <p:nvPr/>
        </p:nvSpPr>
        <p:spPr>
          <a:xfrm>
            <a:off x="1188720" y="255117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SEMANAS 5–6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Experimentos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— Testes comparativos e otimização</a:t>
            </a:r>
            <a:endParaRPr lang="en-US" sz="1400" dirty="0"/>
          </a:p>
        </p:txBody>
      </p:sp>
      <p:sp>
        <p:nvSpPr>
          <p:cNvPr id="10" name="Marco 4"/>
          <p:cNvSpPr/>
          <p:nvPr/>
        </p:nvSpPr>
        <p:spPr>
          <a:xfrm>
            <a:off x="640080" y="3392424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Bloco cronograma 4"/>
          <p:cNvSpPr txBox="1"/>
          <p:nvPr/>
        </p:nvSpPr>
        <p:spPr>
          <a:xfrm>
            <a:off x="1188720" y="320954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SEMANAS 7–8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Análise e escrita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— Comparação com trabalhos relacionados</a:t>
            </a:r>
            <a:endParaRPr lang="en-US" sz="1400" dirty="0"/>
          </a:p>
        </p:txBody>
      </p:sp>
      <p:sp>
        <p:nvSpPr>
          <p:cNvPr id="12" name="Marco 5"/>
          <p:cNvSpPr/>
          <p:nvPr/>
        </p:nvSpPr>
        <p:spPr>
          <a:xfrm>
            <a:off x="640080" y="4050792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Bloco cronograma 5"/>
          <p:cNvSpPr txBox="1"/>
          <p:nvPr/>
        </p:nvSpPr>
        <p:spPr>
          <a:xfrm>
            <a:off x="1188720" y="386791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SPRINT 3 · SEM. 9–10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Entrega final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— Pitch comercial e submissão do artigo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822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</a:t>
            </a:r>
            <a:endParaRPr lang="en-US" sz="4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27432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Perguntas e discussão</a:t>
            </a:r>
            <a:endParaRPr lang="en-US" sz="1800" dirty="0"/>
          </a:p>
        </p:txBody>
      </p:sp>
      <p:sp>
        <p:nvSpPr>
          <p:cNvPr id="4" name="Rodapé integrantes"/>
          <p:cNvSpPr txBox="1"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PUC Minas · Trabalho Interdisciplinar V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Artur Fernandes Braga de Menezes · Artur Rizzi Martinho · Felipe Lacerda Tertuliano · Gabriel Alves da Silva Diógenes · Rafael Mortimer Colares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5 Load Balancer">
  <a:themeElements>
    <a:clrScheme name="TI5 Load Balancer">
      <a:dk1>
        <a:srgbClr val="1B3A5C"/>
      </a:dk1>
      <a:lt1>
        <a:srgbClr val="FFFFFF"/>
      </a:lt1>
      <a:dk2>
        <a:srgbClr val="142E4A"/>
      </a:dk2>
      <a:lt2>
        <a:srgbClr val="CFE3F0"/>
      </a:lt2>
      <a:accent1>
        <a:srgbClr val="3D7EA6"/>
      </a:accent1>
      <a:accent2>
        <a:srgbClr val="8EC1E0"/>
      </a:accent2>
      <a:accent3>
        <a:srgbClr val="5BA0C8"/>
      </a:accent3>
      <a:accent4>
        <a:srgbClr val="2A5F86"/>
      </a:accent4>
      <a:accent5>
        <a:srgbClr val="A9D1EA"/>
      </a:accent5>
      <a:accent6>
        <a:srgbClr val="E8F2F9"/>
      </a:accent6>
      <a:hlink>
        <a:srgbClr val="8EC1E0"/>
      </a:hlink>
      <a:folHlink>
        <a:srgbClr val="A9D1EA"/>
      </a:folHlink>
    </a:clrScheme>
    <a:fontScheme name="TI5 Load Balanc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Balancer para Modelos de IA</dc:title>
  <dc:subject>PptxGenJS Presentation</dc:subject>
  <dc:creator>PUC Minas - Trabalho Interdisciplinar V</dc:creator>
  <cp:lastModifiedBy>PUC Minas - Trabalho Interdisciplinar V</cp:lastModifiedBy>
  <cp:revision>1</cp:revision>
  <dcterms:created xsi:type="dcterms:W3CDTF">2026-10-15T22:56:04Z</dcterms:created>
  <dcterms:modified xsi:type="dcterms:W3CDTF">2026-10-15T22:56:04Z</dcterms:modified>
</cp:coreProperties>
</file>