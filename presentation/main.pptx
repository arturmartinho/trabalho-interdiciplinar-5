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A87748A-8B19-45D1-8688-7654C1C6BE1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8A3926-B9ED-4C3C-8B3D-E77ED205F6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60AD81-2DDA-40A6-8079-0CBD0887C4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9C3F28-AD6F-4EE8-A291-BC9BA20A04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BBAFCB-51FD-42C0-A5E3-CAEA4AF7C8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17FA36-807F-4707-B40B-380D9A922C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FBF1FA-F9F9-4236-9BCD-806DA8867E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47709D-6B29-4634-A151-B7952BD77D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ED4E6C-66F3-4FF8-8AF9-74C501B381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C98D0A-5CD9-444D-A948-56EE75A78E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5AF30F-41F1-43A4-B77A-71E99F898C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B56324-45D0-4AC2-9B75-FF0C5DDC2C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CA219D-CA8B-4F11-B487-63DA753F25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A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92240" y="502920"/>
            <a:ext cx="2011320" cy="201132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3.8B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40680" y="2148840"/>
            <a:ext cx="1371240" cy="1371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0.5B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7086600" y="2880360"/>
            <a:ext cx="822600" cy="82260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152M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48640" y="822960"/>
            <a:ext cx="4754520" cy="1737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en-US" sz="4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48640" y="2743200"/>
            <a:ext cx="4571640" cy="1096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14600" lvl="5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971800" lvl="6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UDO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/>
          <p:cNvSpPr/>
          <p:nvPr/>
        </p:nvSpPr>
        <p:spPr>
          <a:xfrm>
            <a:off x="548640" y="47548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PUC Minas · Trabalho Interdisciplinar 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en-US" sz="3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1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78968F-8800-4910-A46E-5E125100D2B2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822960"/>
            <a:ext cx="4754520" cy="173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Load Balancer para Modelos de IA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hasCustomPrompt="1"/>
          </p:nvPr>
        </p:nvSpPr>
        <p:spPr>
          <a:xfrm>
            <a:off x="548640" y="2743200"/>
            <a:ext cx="4571640" cy="109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Roteamento de requisições por complexidade entre modelos de IA de diferentes portes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Rodapé integrantes"/>
          <p:cNvSpPr/>
          <p:nvPr/>
        </p:nvSpPr>
        <p:spPr>
          <a:xfrm>
            <a:off x="548640" y="4114800"/>
            <a:ext cx="8046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PUC Minas · Trabalho Interdisciplinar 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Artur Fernandes Braga de Menezes · Artur Rizzi Martinho · Felipe Lacerda Tertuliano · Gabriel Alves da Silva Diógenes · Rafael Mortimer Colares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Um modelo só para tudo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Bullets problema"/>
          <p:cNvSpPr/>
          <p:nvPr/>
        </p:nvSpPr>
        <p:spPr>
          <a:xfrm>
            <a:off x="548640" y="1325880"/>
            <a:ext cx="374868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Toda requisição, simples ou complexa, vai para o mesmo modelo de grande porte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Uso ineficiente de GPU/CPU em tarefas simples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Maior latência e custo de inferência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Demanda heterogênea, capacidade subutilizada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Requisição Resumo curto"/>
          <p:cNvSpPr/>
          <p:nvPr/>
        </p:nvSpPr>
        <p:spPr>
          <a:xfrm>
            <a:off x="4480560" y="1280160"/>
            <a:ext cx="1645560" cy="50256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Resumo curto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eta Resumo curto"/>
          <p:cNvSpPr/>
          <p:nvPr/>
        </p:nvSpPr>
        <p:spPr>
          <a:xfrm>
            <a:off x="6126480" y="1531440"/>
            <a:ext cx="731520" cy="137160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Requisição Código complexo"/>
          <p:cNvSpPr/>
          <p:nvPr/>
        </p:nvSpPr>
        <p:spPr>
          <a:xfrm>
            <a:off x="4480560" y="1965960"/>
            <a:ext cx="1645560" cy="50256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Código complexo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eta Código complexo"/>
          <p:cNvSpPr/>
          <p:nvPr/>
        </p:nvSpPr>
        <p:spPr>
          <a:xfrm>
            <a:off x="6126480" y="2217240"/>
            <a:ext cx="731520" cy="68580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Requisição Saudação"/>
          <p:cNvSpPr/>
          <p:nvPr/>
        </p:nvSpPr>
        <p:spPr>
          <a:xfrm>
            <a:off x="4480560" y="2651760"/>
            <a:ext cx="1645560" cy="50256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Saudação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eta Saudação"/>
          <p:cNvSpPr/>
          <p:nvPr/>
        </p:nvSpPr>
        <p:spPr>
          <a:xfrm>
            <a:off x="6126480" y="2903040"/>
            <a:ext cx="731520" cy="36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Requisição Análise longa"/>
          <p:cNvSpPr/>
          <p:nvPr/>
        </p:nvSpPr>
        <p:spPr>
          <a:xfrm>
            <a:off x="4480560" y="3337560"/>
            <a:ext cx="1645560" cy="50256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Análise longa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eta Análise longa"/>
          <p:cNvSpPr/>
          <p:nvPr/>
        </p:nvSpPr>
        <p:spPr>
          <a:xfrm flipV="1">
            <a:off x="6126480" y="2903040"/>
            <a:ext cx="731520" cy="68580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Requisição Tradução simples"/>
          <p:cNvSpPr/>
          <p:nvPr/>
        </p:nvSpPr>
        <p:spPr>
          <a:xfrm>
            <a:off x="4480560" y="4023360"/>
            <a:ext cx="1645560" cy="50256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Tradução simples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eta Tradução simples"/>
          <p:cNvSpPr/>
          <p:nvPr/>
        </p:nvSpPr>
        <p:spPr>
          <a:xfrm flipV="1">
            <a:off x="6126480" y="2903040"/>
            <a:ext cx="731520" cy="137160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Modelo de grande porte"/>
          <p:cNvSpPr/>
          <p:nvPr/>
        </p:nvSpPr>
        <p:spPr>
          <a:xfrm>
            <a:off x="6858000" y="2217600"/>
            <a:ext cx="1828440" cy="137124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Modelo de grande porte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5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1B8A96-9BEF-4AB2-B503-711729E376F0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Rotear pela complexidade do pedido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Bullets proposta"/>
          <p:cNvSpPr/>
          <p:nvPr/>
        </p:nvSpPr>
        <p:spPr>
          <a:xfrm>
            <a:off x="548640" y="12801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Um load balancer que classifica cada prompt e o direciona ao modelo mais adequado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Evita usar um modelo grande quando um modelo leve resolve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Requisição"/>
          <p:cNvSpPr/>
          <p:nvPr/>
        </p:nvSpPr>
        <p:spPr>
          <a:xfrm>
            <a:off x="548640" y="2880360"/>
            <a:ext cx="1645560" cy="6397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Requisição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eta req-classificador"/>
          <p:cNvSpPr/>
          <p:nvPr/>
        </p:nvSpPr>
        <p:spPr>
          <a:xfrm>
            <a:off x="2194560" y="3200400"/>
            <a:ext cx="640080" cy="36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Classificador"/>
          <p:cNvSpPr/>
          <p:nvPr/>
        </p:nvSpPr>
        <p:spPr>
          <a:xfrm>
            <a:off x="2834640" y="2788920"/>
            <a:ext cx="2194200" cy="82260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Classificador de complexidade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Modelo AILO-152M-v2"/>
          <p:cNvSpPr/>
          <p:nvPr/>
        </p:nvSpPr>
        <p:spPr>
          <a:xfrm>
            <a:off x="5852160" y="2194560"/>
            <a:ext cx="2742840" cy="566640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AILO-152M-v2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trivial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eta para AILO-152M-v2"/>
          <p:cNvSpPr/>
          <p:nvPr/>
        </p:nvSpPr>
        <p:spPr>
          <a:xfrm flipV="1">
            <a:off x="5029200" y="2477880"/>
            <a:ext cx="822960" cy="72252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Modelo Qwen2.5-Coder-0.5B"/>
          <p:cNvSpPr/>
          <p:nvPr/>
        </p:nvSpPr>
        <p:spPr>
          <a:xfrm>
            <a:off x="5852160" y="2917080"/>
            <a:ext cx="2742840" cy="566640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Qwen2.5-Coder-0.5B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intermediário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eta para Qwen2.5-Coder-0.5B"/>
          <p:cNvSpPr/>
          <p:nvPr/>
        </p:nvSpPr>
        <p:spPr>
          <a:xfrm>
            <a:off x="5029200" y="3200400"/>
            <a:ext cx="822960" cy="36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Modelo Phi-3.5-mini"/>
          <p:cNvSpPr/>
          <p:nvPr/>
        </p:nvSpPr>
        <p:spPr>
          <a:xfrm>
            <a:off x="5852160" y="3639240"/>
            <a:ext cx="2742840" cy="566640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Phi-3.5-mini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complexo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eta para Phi-3.5-mini"/>
          <p:cNvSpPr/>
          <p:nvPr/>
        </p:nvSpPr>
        <p:spPr>
          <a:xfrm>
            <a:off x="5029200" y="3200400"/>
            <a:ext cx="822960" cy="722160"/>
          </a:xfrm>
          <a:prstGeom prst="line">
            <a:avLst/>
          </a:prstGeom>
          <a:ln w="19050">
            <a:solidFill>
              <a:srgbClr val="8EC1E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Rodapé stack"/>
          <p:cNvSpPr/>
          <p:nvPr/>
        </p:nvSpPr>
        <p:spPr>
          <a:xfrm>
            <a:off x="548640" y="438912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Serviço via Ollama · orquestração em Python (FastAPI + httpx)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6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033CB6-0C54-475C-899D-538329849AE4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que o trabalho pretende mostrar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Card objetivo geral"/>
          <p:cNvSpPr/>
          <p:nvPr/>
        </p:nvSpPr>
        <p:spPr>
          <a:xfrm>
            <a:off x="548640" y="1325880"/>
            <a:ext cx="3474360" cy="320004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Rótulo objetivo geral"/>
          <p:cNvSpPr/>
          <p:nvPr/>
        </p:nvSpPr>
        <p:spPr>
          <a:xfrm>
            <a:off x="777240" y="155448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OBJETIVO GERAL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o objetivo geral"/>
          <p:cNvSpPr/>
          <p:nvPr/>
        </p:nvSpPr>
        <p:spPr>
          <a:xfrm>
            <a:off x="777240" y="1920240"/>
            <a:ext cx="30171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Desenvolver um load balancer que direcione requisições entre modelos de IA de portes distintos, conforme sua complexidade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Card objetivo 1"/>
          <p:cNvSpPr/>
          <p:nvPr/>
        </p:nvSpPr>
        <p:spPr>
          <a:xfrm>
            <a:off x="4297680" y="1325880"/>
            <a:ext cx="4297320" cy="712800"/>
          </a:xfrm>
          <a:prstGeom prst="roundRect">
            <a:avLst>
              <a:gd name="adj" fmla="val 1025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Número objetivo 1"/>
          <p:cNvSpPr/>
          <p:nvPr/>
        </p:nvSpPr>
        <p:spPr>
          <a:xfrm>
            <a:off x="4480560" y="1481400"/>
            <a:ext cx="402120" cy="4021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o objetivo 1"/>
          <p:cNvSpPr/>
          <p:nvPr/>
        </p:nvSpPr>
        <p:spPr>
          <a:xfrm>
            <a:off x="5074920" y="132588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Implementar um classificador de prompts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Card objetivo 2"/>
          <p:cNvSpPr/>
          <p:nvPr/>
        </p:nvSpPr>
        <p:spPr>
          <a:xfrm>
            <a:off x="4297680" y="2148840"/>
            <a:ext cx="4297320" cy="712800"/>
          </a:xfrm>
          <a:prstGeom prst="roundRect">
            <a:avLst>
              <a:gd name="adj" fmla="val 1025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Número objetivo 2"/>
          <p:cNvSpPr/>
          <p:nvPr/>
        </p:nvSpPr>
        <p:spPr>
          <a:xfrm>
            <a:off x="4480560" y="2304360"/>
            <a:ext cx="402120" cy="4021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o objetivo 2"/>
          <p:cNvSpPr/>
          <p:nvPr/>
        </p:nvSpPr>
        <p:spPr>
          <a:xfrm>
            <a:off x="5074920" y="214884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Reduzir latência média e custo de inferência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Card objetivo 3"/>
          <p:cNvSpPr/>
          <p:nvPr/>
        </p:nvSpPr>
        <p:spPr>
          <a:xfrm>
            <a:off x="4297680" y="2971800"/>
            <a:ext cx="4297320" cy="712800"/>
          </a:xfrm>
          <a:prstGeom prst="roundRect">
            <a:avLst>
              <a:gd name="adj" fmla="val 1025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Número objetivo 3"/>
          <p:cNvSpPr/>
          <p:nvPr/>
        </p:nvSpPr>
        <p:spPr>
          <a:xfrm>
            <a:off x="4480560" y="3127320"/>
            <a:ext cx="402120" cy="4021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o objetivo 3"/>
          <p:cNvSpPr/>
          <p:nvPr/>
        </p:nvSpPr>
        <p:spPr>
          <a:xfrm>
            <a:off x="5074920" y="297180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Comparar baseline (um único modelo) x proposta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Card objetivo 4"/>
          <p:cNvSpPr/>
          <p:nvPr/>
        </p:nvSpPr>
        <p:spPr>
          <a:xfrm>
            <a:off x="4297680" y="3794760"/>
            <a:ext cx="4297320" cy="712800"/>
          </a:xfrm>
          <a:prstGeom prst="roundRect">
            <a:avLst>
              <a:gd name="adj" fmla="val 1025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Número objetivo 4"/>
          <p:cNvSpPr/>
          <p:nvPr/>
        </p:nvSpPr>
        <p:spPr>
          <a:xfrm>
            <a:off x="4480560" y="3950280"/>
            <a:ext cx="402120" cy="4021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o objetivo 4"/>
          <p:cNvSpPr/>
          <p:nvPr/>
        </p:nvSpPr>
        <p:spPr>
          <a:xfrm>
            <a:off x="5074920" y="379476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Medir uso de RAM e GPU por instância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7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62C956-2F88-4619-BD2C-596C1F40C152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que já existe — e o que falta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Linha relacionado 1"/>
          <p:cNvSpPr/>
          <p:nvPr/>
        </p:nvSpPr>
        <p:spPr>
          <a:xfrm>
            <a:off x="548640" y="1188720"/>
            <a:ext cx="8046360" cy="45684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Autor 1"/>
          <p:cNvSpPr/>
          <p:nvPr/>
        </p:nvSpPr>
        <p:spPr>
          <a:xfrm>
            <a:off x="731520" y="118872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Kossmann et al. (2024)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Descrição 1"/>
          <p:cNvSpPr/>
          <p:nvPr/>
        </p:nvSpPr>
        <p:spPr>
          <a:xfrm>
            <a:off x="2880360" y="1188720"/>
            <a:ext cx="5623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SAL: balanceia pela carga de fila e memória do servidor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Linha relacionado 2"/>
          <p:cNvSpPr/>
          <p:nvPr/>
        </p:nvSpPr>
        <p:spPr>
          <a:xfrm>
            <a:off x="548640" y="1719000"/>
            <a:ext cx="8046360" cy="45684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Autor 2"/>
          <p:cNvSpPr/>
          <p:nvPr/>
        </p:nvSpPr>
        <p:spPr>
          <a:xfrm>
            <a:off x="731520" y="17190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Jain et al. (2025)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Descrição 2"/>
          <p:cNvSpPr/>
          <p:nvPr/>
        </p:nvSpPr>
        <p:spPr>
          <a:xfrm>
            <a:off x="2880360" y="1719000"/>
            <a:ext cx="5623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Prevê o tamanho da resposta entre réplicas do mesmo modelo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Linha relacionado 3"/>
          <p:cNvSpPr/>
          <p:nvPr/>
        </p:nvSpPr>
        <p:spPr>
          <a:xfrm>
            <a:off x="548640" y="2249280"/>
            <a:ext cx="8046360" cy="45684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Autor 3"/>
          <p:cNvSpPr/>
          <p:nvPr/>
        </p:nvSpPr>
        <p:spPr>
          <a:xfrm>
            <a:off x="731520" y="224928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Sun et al. (2024)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Descrição 3"/>
          <p:cNvSpPr/>
          <p:nvPr/>
        </p:nvSpPr>
        <p:spPr>
          <a:xfrm>
            <a:off x="2880360" y="2249280"/>
            <a:ext cx="5623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Llumnix: reagenda requisições em execução entre instâncias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Linha relacionado 4"/>
          <p:cNvSpPr/>
          <p:nvPr/>
        </p:nvSpPr>
        <p:spPr>
          <a:xfrm>
            <a:off x="548640" y="2779920"/>
            <a:ext cx="8046360" cy="45684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Autor 4"/>
          <p:cNvSpPr/>
          <p:nvPr/>
        </p:nvSpPr>
        <p:spPr>
          <a:xfrm>
            <a:off x="731520" y="277992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Xia et al. (2025)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Descrição 4"/>
          <p:cNvSpPr/>
          <p:nvPr/>
        </p:nvSpPr>
        <p:spPr>
          <a:xfrm>
            <a:off x="2880360" y="2779920"/>
            <a:ext cx="5623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SkyWalker: balanceamento entre regiões geográficas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Linha relacionado 5"/>
          <p:cNvSpPr/>
          <p:nvPr/>
        </p:nvSpPr>
        <p:spPr>
          <a:xfrm>
            <a:off x="548640" y="3310200"/>
            <a:ext cx="8046360" cy="45684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Autor 5"/>
          <p:cNvSpPr/>
          <p:nvPr/>
        </p:nvSpPr>
        <p:spPr>
          <a:xfrm>
            <a:off x="731520" y="33102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Yuan et al. (2026)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Descrição 5"/>
          <p:cNvSpPr/>
          <p:nvPr/>
        </p:nvSpPr>
        <p:spPr>
          <a:xfrm>
            <a:off x="2880360" y="3310200"/>
            <a:ext cx="5623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DualMap: concilia afinidade de cache com balanceamento de carga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Destaque lacuna"/>
          <p:cNvSpPr/>
          <p:nvPr/>
        </p:nvSpPr>
        <p:spPr>
          <a:xfrm>
            <a:off x="548640" y="3931920"/>
            <a:ext cx="8046360" cy="68544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Lacuna: nenhum classifica a complexidade do prompt para escolher entre modelos de portes diferentes.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8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8B307F-CC72-40D6-834E-1363F3B30927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Baseline x proposta, em medição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Card baseline"/>
          <p:cNvSpPr/>
          <p:nvPr/>
        </p:nvSpPr>
        <p:spPr>
          <a:xfrm>
            <a:off x="548640" y="1280160"/>
            <a:ext cx="3840120" cy="17370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ótulo baseline"/>
          <p:cNvSpPr/>
          <p:nvPr/>
        </p:nvSpPr>
        <p:spPr>
          <a:xfrm>
            <a:off x="777240" y="14630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BASELINE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o baseline"/>
          <p:cNvSpPr/>
          <p:nvPr/>
        </p:nvSpPr>
        <p:spPr>
          <a:xfrm>
            <a:off x="777240" y="1828800"/>
            <a:ext cx="3382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Todas as requisições vão para o modelo de maior porte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Card proposta"/>
          <p:cNvSpPr/>
          <p:nvPr/>
        </p:nvSpPr>
        <p:spPr>
          <a:xfrm>
            <a:off x="4754880" y="1280160"/>
            <a:ext cx="3840120" cy="173700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Rótulo proposta"/>
          <p:cNvSpPr/>
          <p:nvPr/>
        </p:nvSpPr>
        <p:spPr>
          <a:xfrm>
            <a:off x="4983480" y="14630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PROPOSTA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o proposta"/>
          <p:cNvSpPr/>
          <p:nvPr/>
        </p:nvSpPr>
        <p:spPr>
          <a:xfrm>
            <a:off x="4983480" y="1828800"/>
            <a:ext cx="3382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LoadBalancer classifica o prompt e encaminha ao modelo mais adequado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ótulo métricas"/>
          <p:cNvSpPr/>
          <p:nvPr/>
        </p:nvSpPr>
        <p:spPr>
          <a:xfrm>
            <a:off x="548640" y="32918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MÉTRICAS MEDIDAS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Métrica 1"/>
          <p:cNvSpPr/>
          <p:nvPr/>
        </p:nvSpPr>
        <p:spPr>
          <a:xfrm>
            <a:off x="548640" y="3611880"/>
            <a:ext cx="2559960" cy="82260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Latência média, P95 e P99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Métrica 2"/>
          <p:cNvSpPr/>
          <p:nvPr/>
        </p:nvSpPr>
        <p:spPr>
          <a:xfrm>
            <a:off x="3291840" y="3611880"/>
            <a:ext cx="2559960" cy="82260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Uso de RAM e GPU por máquina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Métrica 3"/>
          <p:cNvSpPr/>
          <p:nvPr/>
        </p:nvSpPr>
        <p:spPr>
          <a:xfrm>
            <a:off x="6035040" y="3611880"/>
            <a:ext cx="2559960" cy="82260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Identificação de outliers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9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C7FFFA-A817-40B5-B94F-2BACAA9E9000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Estado atual — Sprint 2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Card concluído"/>
          <p:cNvSpPr/>
          <p:nvPr/>
        </p:nvSpPr>
        <p:spPr>
          <a:xfrm>
            <a:off x="548640" y="1325880"/>
            <a:ext cx="4937400" cy="320004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ótulo concluído"/>
          <p:cNvSpPr/>
          <p:nvPr/>
        </p:nvSpPr>
        <p:spPr>
          <a:xfrm>
            <a:off x="777240" y="1508760"/>
            <a:ext cx="448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CONCLUÍDO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Itens concluídos"/>
          <p:cNvSpPr/>
          <p:nvPr/>
        </p:nvSpPr>
        <p:spPr>
          <a:xfrm>
            <a:off x="777240" y="1874520"/>
            <a:ext cx="45716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✅  Load Balancer completo (FastAPI + httpx + fallback)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✅  Classificador por regras (5 regras + 2 casos ambíguos)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✅  Script de experimentos (baseline vs proposta, contrabalançado)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✅  40 prompts rotulados (14 simples, 13 código, 13 complexos)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✅  Testes automatizados (unitários + integração)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✅  Documentação completa (README + .env.example + API)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Card atenção"/>
          <p:cNvSpPr/>
          <p:nvPr/>
        </p:nvSpPr>
        <p:spPr>
          <a:xfrm>
            <a:off x="5669280" y="1325880"/>
            <a:ext cx="2925720" cy="3200040"/>
          </a:xfrm>
          <a:prstGeom prst="roundRect">
            <a:avLst>
              <a:gd name="adj" fmla="val 2500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ótulo atenção"/>
          <p:cNvSpPr/>
          <p:nvPr/>
        </p:nvSpPr>
        <p:spPr>
          <a:xfrm>
            <a:off x="5852160" y="15087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EM ANDAMENTO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Itens atenção"/>
          <p:cNvSpPr/>
          <p:nvPr/>
        </p:nvSpPr>
        <p:spPr>
          <a:xfrm>
            <a:off x="5852160" y="1874520"/>
            <a:ext cx="255996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1199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⚠️  Resultados preliminares disponíveis — medição completa na semana 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99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⚠️  Análise estatística completa (P95, P99, outliers) — prevista para a semana 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ldNum" idx="10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9F0217-B2A2-4EEC-B3A8-138373872A6C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Dificuldades enfrentadas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Card dificuldade 1"/>
          <p:cNvSpPr/>
          <p:nvPr/>
        </p:nvSpPr>
        <p:spPr>
          <a:xfrm>
            <a:off x="548640" y="1325880"/>
            <a:ext cx="2559960" cy="320004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Número dificuldade 1"/>
          <p:cNvSpPr/>
          <p:nvPr/>
        </p:nvSpPr>
        <p:spPr>
          <a:xfrm>
            <a:off x="731520" y="150876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ítulo dificuldade 1"/>
          <p:cNvSpPr/>
          <p:nvPr/>
        </p:nvSpPr>
        <p:spPr>
          <a:xfrm>
            <a:off x="731520" y="2103120"/>
            <a:ext cx="219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Registro manual dos modelos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o dificuldade 1"/>
          <p:cNvSpPr/>
          <p:nvPr/>
        </p:nvSpPr>
        <p:spPr>
          <a:xfrm>
            <a:off x="731520" y="2743200"/>
            <a:ext cx="21942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Cada modelo é adicionado à mão e associado a uma classe no classificador. Adicionar um novo exige editar o código e reiniciar.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Card dificuldade 2"/>
          <p:cNvSpPr/>
          <p:nvPr/>
        </p:nvSpPr>
        <p:spPr>
          <a:xfrm>
            <a:off x="3291840" y="1325880"/>
            <a:ext cx="2559960" cy="320004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Número dificuldade 2"/>
          <p:cNvSpPr/>
          <p:nvPr/>
        </p:nvSpPr>
        <p:spPr>
          <a:xfrm>
            <a:off x="3474720" y="150876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ítulo dificuldade 2"/>
          <p:cNvSpPr/>
          <p:nvPr/>
        </p:nvSpPr>
        <p:spPr>
          <a:xfrm>
            <a:off x="3474720" y="2103120"/>
            <a:ext cx="219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Conexão com máquinas externas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o dificuldade 2"/>
          <p:cNvSpPr/>
          <p:nvPr/>
        </p:nvSpPr>
        <p:spPr>
          <a:xfrm>
            <a:off x="3474720" y="2743200"/>
            <a:ext cx="21942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Expor o Ollama fora da rede local: endereços e portas, autenticação e variação de latência de rede.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Card dificuldade 3"/>
          <p:cNvSpPr/>
          <p:nvPr/>
        </p:nvSpPr>
        <p:spPr>
          <a:xfrm>
            <a:off x="6035040" y="1325880"/>
            <a:ext cx="2559960" cy="320004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Número dificuldade 3"/>
          <p:cNvSpPr/>
          <p:nvPr/>
        </p:nvSpPr>
        <p:spPr>
          <a:xfrm>
            <a:off x="6217920" y="150876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ítulo dificuldade 3"/>
          <p:cNvSpPr/>
          <p:nvPr/>
        </p:nvSpPr>
        <p:spPr>
          <a:xfrm>
            <a:off x="6217920" y="2103120"/>
            <a:ext cx="219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Medição de latência sem ruído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o dificuldade 3"/>
          <p:cNvSpPr/>
          <p:nvPr/>
        </p:nvSpPr>
        <p:spPr>
          <a:xfrm>
            <a:off x="6217920" y="2743200"/>
            <a:ext cx="21942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Garantir que a latência reflita o roteamento, e não carga da máquina, ordem dos prompts ou cache de KV.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11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0D299C-18F6-4FB2-A4FB-6ACBEA458698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que já foi feito para contornar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Card solução 1"/>
          <p:cNvSpPr/>
          <p:nvPr/>
        </p:nvSpPr>
        <p:spPr>
          <a:xfrm>
            <a:off x="548640" y="1234440"/>
            <a:ext cx="3931560" cy="15541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ítulo solução 1"/>
          <p:cNvSpPr/>
          <p:nvPr/>
        </p:nvSpPr>
        <p:spPr>
          <a:xfrm>
            <a:off x="731520" y="137160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Classificador determinístico por regras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o solução 1"/>
          <p:cNvSpPr/>
          <p:nvPr/>
        </p:nvSpPr>
        <p:spPr>
          <a:xfrm>
            <a:off x="731520" y="1691640"/>
            <a:ext cx="3565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Decisão estável entre rodadas, explicável no log, sem variação introduzida por aprendizado.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Card solução 2"/>
          <p:cNvSpPr/>
          <p:nvPr/>
        </p:nvSpPr>
        <p:spPr>
          <a:xfrm>
            <a:off x="4663440" y="1234440"/>
            <a:ext cx="3931560" cy="15541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ítulo solução 2"/>
          <p:cNvSpPr/>
          <p:nvPr/>
        </p:nvSpPr>
        <p:spPr>
          <a:xfrm>
            <a:off x="4846320" y="137160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Fallback automático para o Phi-3.5-mini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o solução 2"/>
          <p:cNvSpPr/>
          <p:nvPr/>
        </p:nvSpPr>
        <p:spPr>
          <a:xfrm>
            <a:off x="4846320" y="1691640"/>
            <a:ext cx="3565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 o modelo escolhido não responde, o prompt vai ao modelo de reserva e o redirecionamento é registrado.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Card solução 3"/>
          <p:cNvSpPr/>
          <p:nvPr/>
        </p:nvSpPr>
        <p:spPr>
          <a:xfrm>
            <a:off x="548640" y="2926080"/>
            <a:ext cx="3931560" cy="15541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ítulo solução 3"/>
          <p:cNvSpPr/>
          <p:nvPr/>
        </p:nvSpPr>
        <p:spPr>
          <a:xfrm>
            <a:off x="731520" y="306324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Experimento contrabalançado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o solução 3"/>
          <p:cNvSpPr/>
          <p:nvPr/>
        </p:nvSpPr>
        <p:spPr>
          <a:xfrm>
            <a:off x="731520" y="3383280"/>
            <a:ext cx="3565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Metade dos prompts vai primeiro ao baseline, metade à proposta; nenhum prompt roda duas vezes seguidas; aquecimento antes da medição.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Card solução 4"/>
          <p:cNvSpPr/>
          <p:nvPr/>
        </p:nvSpPr>
        <p:spPr>
          <a:xfrm>
            <a:off x="4663440" y="2926080"/>
            <a:ext cx="3931560" cy="15541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ítulo solução 4"/>
          <p:cNvSpPr/>
          <p:nvPr/>
        </p:nvSpPr>
        <p:spPr>
          <a:xfrm>
            <a:off x="4846320" y="306324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Medição de ponta a ponta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o solução 4"/>
          <p:cNvSpPr/>
          <p:nvPr/>
        </p:nvSpPr>
        <p:spPr>
          <a:xfrm>
            <a:off x="4846320" y="3383280"/>
            <a:ext cx="3565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Latência medida no cliente com time.perf_counter, independente do servidor.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ldNum" idx="12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EEFE49-4D19-4C99-9293-FD8EFFA3147E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que fica para as próximas semanas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Linha próximo 1"/>
          <p:cNvSpPr/>
          <p:nvPr/>
        </p:nvSpPr>
        <p:spPr>
          <a:xfrm>
            <a:off x="548640" y="1234440"/>
            <a:ext cx="8046360" cy="7311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Etiqueta próximo 1"/>
          <p:cNvSpPr/>
          <p:nvPr/>
        </p:nvSpPr>
        <p:spPr>
          <a:xfrm>
            <a:off x="685800" y="1371600"/>
            <a:ext cx="1462680" cy="45684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Semana 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o próximo 1"/>
          <p:cNvSpPr/>
          <p:nvPr/>
        </p:nvSpPr>
        <p:spPr>
          <a:xfrm>
            <a:off x="2377440" y="1234440"/>
            <a:ext cx="6080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Refinamento do classificador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Novas categorias, acurácia sobre o conjunto rotulado, monitoramento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Linha próximo 2"/>
          <p:cNvSpPr/>
          <p:nvPr/>
        </p:nvSpPr>
        <p:spPr>
          <a:xfrm>
            <a:off x="548640" y="2075760"/>
            <a:ext cx="8046360" cy="7311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Etiqueta próximo 2"/>
          <p:cNvSpPr/>
          <p:nvPr/>
        </p:nvSpPr>
        <p:spPr>
          <a:xfrm>
            <a:off x="685800" y="2212920"/>
            <a:ext cx="1462680" cy="45684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Semana 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o próximo 2"/>
          <p:cNvSpPr/>
          <p:nvPr/>
        </p:nvSpPr>
        <p:spPr>
          <a:xfrm>
            <a:off x="2377440" y="2075760"/>
            <a:ext cx="6080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Análise estatística completa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Mais testes, outliers e comparação formal entre baseline e proposta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Linha próximo 3"/>
          <p:cNvSpPr/>
          <p:nvPr/>
        </p:nvSpPr>
        <p:spPr>
          <a:xfrm>
            <a:off x="548640" y="2917080"/>
            <a:ext cx="8046360" cy="7311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Etiqueta próximo 3"/>
          <p:cNvSpPr/>
          <p:nvPr/>
        </p:nvSpPr>
        <p:spPr>
          <a:xfrm>
            <a:off x="685800" y="3054240"/>
            <a:ext cx="1462680" cy="45684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Semanas 6–8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o próximo 3"/>
          <p:cNvSpPr/>
          <p:nvPr/>
        </p:nvSpPr>
        <p:spPr>
          <a:xfrm>
            <a:off x="2377440" y="2917080"/>
            <a:ext cx="6080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Otimização e escrita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Testes de roteamento, resultados do artigo e trabalhos relacionados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Linha próximo 4"/>
          <p:cNvSpPr/>
          <p:nvPr/>
        </p:nvSpPr>
        <p:spPr>
          <a:xfrm>
            <a:off x="548640" y="3758040"/>
            <a:ext cx="8046360" cy="7311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Etiqueta próximo 4"/>
          <p:cNvSpPr/>
          <p:nvPr/>
        </p:nvSpPr>
        <p:spPr>
          <a:xfrm>
            <a:off x="685800" y="3895200"/>
            <a:ext cx="1462680" cy="45684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720" rIns="720" bIns="7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Sprint 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o próximo 4"/>
          <p:cNvSpPr/>
          <p:nvPr/>
        </p:nvSpPr>
        <p:spPr>
          <a:xfrm>
            <a:off x="2377440" y="3758040"/>
            <a:ext cx="6080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Pitch e submissão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Gravação do pitch comercial, revisão final do artigo e documentação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Num" idx="13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787D7F-BE85-40D6-8031-4B1D15397930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20040"/>
            <a:ext cx="8046360" cy="77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Cronograma do semestre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Linha do tempo"/>
          <p:cNvSpPr/>
          <p:nvPr/>
        </p:nvSpPr>
        <p:spPr>
          <a:xfrm>
            <a:off x="777240" y="1554480"/>
            <a:ext cx="360" cy="2651760"/>
          </a:xfrm>
          <a:prstGeom prst="line">
            <a:avLst/>
          </a:prstGeom>
          <a:ln w="1905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Marco 1"/>
          <p:cNvSpPr/>
          <p:nvPr/>
        </p:nvSpPr>
        <p:spPr>
          <a:xfrm>
            <a:off x="640080" y="1417320"/>
            <a:ext cx="273960" cy="27396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1B3A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Bloco cronograma 1"/>
          <p:cNvSpPr/>
          <p:nvPr/>
        </p:nvSpPr>
        <p:spPr>
          <a:xfrm>
            <a:off x="1188720" y="123444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SEMANAS 1–2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Ambiente e classificador</a:t>
            </a: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— Setup do Ollama e 1ª versão do LoadBalancer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Marco 2"/>
          <p:cNvSpPr/>
          <p:nvPr/>
        </p:nvSpPr>
        <p:spPr>
          <a:xfrm>
            <a:off x="640080" y="2075760"/>
            <a:ext cx="273960" cy="27396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1B3A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Bloco cronograma 2"/>
          <p:cNvSpPr/>
          <p:nvPr/>
        </p:nvSpPr>
        <p:spPr>
          <a:xfrm>
            <a:off x="1188720" y="189288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SPRINT 2 · SEM. 3–4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Implementação e métricas</a:t>
            </a: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— Refinamento do classificador e monitoramento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Marco 3"/>
          <p:cNvSpPr/>
          <p:nvPr/>
        </p:nvSpPr>
        <p:spPr>
          <a:xfrm>
            <a:off x="640080" y="2734200"/>
            <a:ext cx="273960" cy="27396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1B3A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Bloco cronograma 3"/>
          <p:cNvSpPr/>
          <p:nvPr/>
        </p:nvSpPr>
        <p:spPr>
          <a:xfrm>
            <a:off x="1188720" y="255132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SEMANAS 5–6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Experimentos</a:t>
            </a: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— Testes comparativos e otimização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Marco 4"/>
          <p:cNvSpPr/>
          <p:nvPr/>
        </p:nvSpPr>
        <p:spPr>
          <a:xfrm>
            <a:off x="640080" y="3392280"/>
            <a:ext cx="273960" cy="27396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1B3A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Bloco cronograma 4"/>
          <p:cNvSpPr/>
          <p:nvPr/>
        </p:nvSpPr>
        <p:spPr>
          <a:xfrm>
            <a:off x="1188720" y="320940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SEMANAS 7–8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Análise e escrita</a:t>
            </a: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— Comparação com trabalhos relacionados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Marco 5"/>
          <p:cNvSpPr/>
          <p:nvPr/>
        </p:nvSpPr>
        <p:spPr>
          <a:xfrm>
            <a:off x="640080" y="4050720"/>
            <a:ext cx="273960" cy="27396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1B3A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Bloco cronograma 5"/>
          <p:cNvSpPr/>
          <p:nvPr/>
        </p:nvSpPr>
        <p:spPr>
          <a:xfrm>
            <a:off x="1188720" y="386784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SPRINT 3 · SEM. 9–10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Entrega final</a:t>
            </a: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— Pitch comercial e submissão do artigo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14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4E371F-E8AB-457B-94B7-23C594086098}" type="slidenum">
              <a:rPr lang="en-US" sz="10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822960"/>
            <a:ext cx="4754520" cy="173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Obrigado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hasCustomPrompt="1"/>
          </p:nvPr>
        </p:nvSpPr>
        <p:spPr>
          <a:xfrm>
            <a:off x="548640" y="2743200"/>
            <a:ext cx="4571640" cy="109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Perguntas e discussão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odapé integrantes"/>
          <p:cNvSpPr/>
          <p:nvPr/>
        </p:nvSpPr>
        <p:spPr>
          <a:xfrm>
            <a:off x="548640" y="4114800"/>
            <a:ext cx="8046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PUC Minas · Trabalho Interdisciplinar 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Artur Fernandes Braga de Menezes · Artur Rizzi Martinho · Felipe Lacerda Tertuliano · Gabriel Alves da Silva Diógenes · Rafael Mortimer Colares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I5 Load Balancer">
  <a:themeElements>
    <a:clrScheme name="TI5 Load Balancer">
      <a:dk1>
        <a:srgbClr val="1B3A5C"/>
      </a:dk1>
      <a:lt1>
        <a:srgbClr val="FFFFFF"/>
      </a:lt1>
      <a:dk2>
        <a:srgbClr val="142E4A"/>
      </a:dk2>
      <a:lt2>
        <a:srgbClr val="CFE3F0"/>
      </a:lt2>
      <a:accent1>
        <a:srgbClr val="3D7EA6"/>
      </a:accent1>
      <a:accent2>
        <a:srgbClr val="8EC1E0"/>
      </a:accent2>
      <a:accent3>
        <a:srgbClr val="5BA0C8"/>
      </a:accent3>
      <a:accent4>
        <a:srgbClr val="2A5F86"/>
      </a:accent4>
      <a:accent5>
        <a:srgbClr val="A9D1EA"/>
      </a:accent5>
      <a:accent6>
        <a:srgbClr val="E8F2F9"/>
      </a:accent6>
      <a:hlink>
        <a:srgbClr val="8EC1E0"/>
      </a:hlink>
      <a:folHlink>
        <a:srgbClr val="A9D1EA"/>
      </a:folHlink>
    </a:clrScheme>
    <a:fontScheme name="TI5 Load Balancer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LibreOffice/26.2.5.2$Linux_X86_64 LibreOffice_project/6d2b0d33fb0f5da53a12f98bed3e9973e56ff1f0</Application>
  <AppVersion>15.0000</AppVersion>
  <Words>0</Words>
  <Paragraphs>0</Paragraphs>
  <Company>PUC Minas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2026-10-15T22:56:04Z</dcterms:created>
  <dc:creator>PUC Minas - Trabalho Interdisciplinar V</dc:creator>
  <dc:description/>
  <dc:language>en-US</dc:language>
  <cp:lastModifiedBy/>
  <dcterms:modified xsi:type="dcterms:W3CDTF">2026-10-15T21:20:56Z</dcterms:modified>
  <cp:revision>2</cp:revision>
  <dc:subject>PptxGenJS Presentation</dc:subject>
  <dc:title>Load Balancer para Modelos de IA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